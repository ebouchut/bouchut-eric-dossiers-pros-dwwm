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 min) Me présenter. Poser le besoin : structurer l’apprentissage du code. Annoncer la solution en une phrase. Enchaîner sur ce qu’est concrètement l’application.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 min) Décrire les 3 rôles et le parcours nominal. Préciser : application web rendue côté serveur (Spring Boot + Thymeleaf), responsive et accessible.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(~2 min) Insister sur la démarche d’ingénierie : branches par feature, ADR, plans versionnés. C’est de la communication écrite (compétence transversale).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(~2 min) Dérouler les besoins par persona. Relier aux besoins non fonctionnels.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(~1,5 min) Présenter la modélisation Merise (MCD ici). 9 entités : utilisateurs, rôles, cours, leçons, inscriptions, jetons, audit. Montrer les associations et cardinalités.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(~1,5 min) Justifier PostgreSQL (ADR-0007), Liquibase (ADR-0005), UUID (ADR-0003). Souligner l’intégrité au plus près des données + contrôle anti-dérive de schéma en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(~2 min) Montrer la version mobile. Insister sur l’accessibilité « par construction » et les contrastes mesurés. C’est CP2 (maquetter) : web ET web mobile.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(~2 min) Balayer la stack et justifier le rendu côté serveur (simplicité, sécurité, SEO). Montrer l’outillage (conteneurs, CI). C’est CP1.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 min) Annoncer les 2 features CRUD qui vont être démontrées et l’architecture commune.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(~2 min) Démo/écran de l’inscription. Montrer la validation et les messages d’erreur reliés au champ (aria). CP4 (dynamique) + CP7 (composant métier).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(~1,5 min) Dérouler le jeu d’essai : entrées, attendu, obtenu, écarts (aucun). Couvert par des tests automatisés.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(~2,5 min) Montrer l’espace formateur : création, publication, réordonnancement. Insister sur les règles métier et la gestion fine des erreurs HTTP. CP7.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(~2 min) Montrer le catalogue. Rappeler responsive + RGAA (CP3) et la partie dynamique serveur (CP4).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(~1,5 min) Montrer un repository (interface). Assumer honnêtement l’écart NoSQL : SQL au cœur, MongoDB prêt mais pas branché. CP6.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(~2 min) Balayer les défenses. Relier à OWASP. C’est un point fort : sécurité par conception.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(~1,5 min) Montrer la stratégie de tests et la matrice de sécurité. La CI verrouille la qualité à chaque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(~4 min) Rappeler : le déploiement en prod n’est pas exigé, c’est la QUALITÉ de la procédure documentée qui compte. Montrer le Dockerfile et un workflow CI. CP8.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(~1,5 min) Récapituler : les 8 compétences sont couvertes. Rappeler que le jury évalue des compétences, pas des fonctionnalités.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(~1 min) Être honnête sur les difficultés et leurs solutions. Ouvrir sur les évolutions, notamment le volet NoSQL.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(~0,5 min) Remercier le jury et l’équipe pédagogique. Inviter aux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learn-dev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Plateforme web d’apprentissage de la programmation</a:t>
            </a:r>
            <a:br/>
            <a:br/>
            <a:r>
              <a:rPr/>
              <a:t>Eric Bouchut — Titre professionnel Développeur Web et Web Mobile (DWWM)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Soutenance — RNCP37674 — session août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besoin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Apprendre à programmer suppose un </a:t>
            </a:r>
            <a:r>
              <a:rPr b="1"/>
              <a:t>parcours structuré</a:t>
            </a:r>
            <a:r>
              <a:rPr/>
              <a:t> : du contenu organisé, une progression lisible, un espace où un formateur publie et fait évoluer ses cours.</a:t>
            </a:r>
          </a:p>
          <a:p>
            <a:pPr lvl="0"/>
            <a:r>
              <a:rPr b="1"/>
              <a:t>Problème</a:t>
            </a:r>
            <a:r>
              <a:rPr/>
              <a:t> : offrir un environnement multi-rôles simple, </a:t>
            </a:r>
            <a:r>
              <a:rPr b="1"/>
              <a:t>sûr</a:t>
            </a:r>
            <a:r>
              <a:rPr/>
              <a:t> et </a:t>
            </a:r>
            <a:r>
              <a:rPr b="1"/>
              <a:t>accessible</a:t>
            </a:r>
            <a:r>
              <a:rPr/>
              <a:t>.</a:t>
            </a:r>
          </a:p>
          <a:p>
            <a:pPr lvl="0"/>
            <a:r>
              <a:rPr b="1"/>
              <a:t>Solution, en une phrase</a:t>
            </a:r>
            <a:r>
              <a:rPr/>
              <a:t> :</a:t>
            </a:r>
          </a:p>
          <a:p>
            <a:pPr lvl="0" indent="0" marL="1270000">
              <a:buNone/>
            </a:pPr>
            <a:r>
              <a:rPr sz="2000" i="1"/>
              <a:t>learn-dev est une plateforme web où des formateurs publient des cours composés de leçons en Markdown, et où des étudiants s’inscrivent et les suivent.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learn-dev en bref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Trois rôles</a:t>
            </a:r>
            <a:r>
              <a:rPr/>
              <a:t> : étudiant (</a:t>
            </a:r>
            <a:r>
              <a:rPr>
                <a:latin typeface="Courier"/>
              </a:rPr>
              <a:t>STUDENT</a:t>
            </a:r>
            <a:r>
              <a:rPr/>
              <a:t>), formateur (</a:t>
            </a:r>
            <a:r>
              <a:rPr>
                <a:latin typeface="Courier"/>
              </a:rPr>
              <a:t>INSTRUCTOR</a:t>
            </a:r>
            <a:r>
              <a:rPr/>
              <a:t>), administrateur (</a:t>
            </a:r>
            <a:r>
              <a:rPr>
                <a:latin typeface="Courier"/>
              </a:rPr>
              <a:t>ADMIN</a:t>
            </a:r>
            <a:r>
              <a:rPr/>
              <a:t>).</a:t>
            </a:r>
          </a:p>
          <a:p>
            <a:pPr lvl="0"/>
            <a:r>
              <a:rPr b="1"/>
              <a:t>Étudiant</a:t>
            </a:r>
            <a:r>
              <a:rPr/>
              <a:t> : catalogue, inscription à un cours, lecture des leçons.</a:t>
            </a:r>
          </a:p>
          <a:p>
            <a:pPr lvl="0"/>
            <a:r>
              <a:rPr b="1"/>
              <a:t>Formateur</a:t>
            </a:r>
            <a:r>
              <a:rPr/>
              <a:t> : création de cours/leçons, cycle de vie de publication, gestion des inscrits.</a:t>
            </a:r>
          </a:p>
          <a:p>
            <a:pPr lvl="0"/>
            <a:r>
              <a:rPr b="1"/>
              <a:t>Administrateur</a:t>
            </a:r>
            <a:r>
              <a:rPr/>
              <a:t> : gestion des comptes, modération des contenus.</a:t>
            </a:r>
          </a:p>
        </p:txBody>
      </p:sp>
      <p:pic>
        <p:nvPicPr>
          <p:cNvPr descr="images/mockup-ho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01700"/>
            <a:ext cx="51054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Conception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Gestion de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Git par fonctionnalité</a:t>
            </a:r>
            <a:r>
              <a:rPr/>
              <a:t> : une branche par feature, convention </a:t>
            </a:r>
            <a:r>
              <a:rPr i="1"/>
              <a:t>Conventional Commits</a:t>
            </a:r>
            <a:r>
              <a:rPr/>
              <a:t>.</a:t>
            </a:r>
          </a:p>
          <a:p>
            <a:pPr lvl="0"/>
            <a:r>
              <a:rPr b="1"/>
              <a:t>Développement incrémental</a:t>
            </a:r>
            <a:r>
              <a:rPr/>
              <a:t> : auth → domaine cours → authoring → administration.</a:t>
            </a:r>
          </a:p>
          <a:p>
            <a:pPr lvl="0"/>
            <a:r>
              <a:rPr b="1"/>
              <a:t>14 décisions d’architecture (ADR)</a:t>
            </a:r>
            <a:r>
              <a:rPr/>
              <a:t> tracées (format MADR).</a:t>
            </a:r>
          </a:p>
          <a:p>
            <a:pPr lvl="0"/>
            <a:r>
              <a:rPr/>
              <a:t>Principe </a:t>
            </a:r>
            <a:r>
              <a:rPr b="1"/>
              <a:t>YAGNI</a:t>
            </a:r>
            <a:r>
              <a:rPr/>
              <a:t> : on ne construit que le nécessaire à la v1.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Cahier des charges &amp; personas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Objectifs</a:t>
            </a:r>
            <a:r>
              <a:rPr/>
              <a:t> : s’inscrire et suivre des cours, publier/gérer des cours, administrer.</a:t>
            </a:r>
          </a:p>
          <a:p>
            <a:pPr lvl="0"/>
            <a:r>
              <a:rPr b="1"/>
              <a:t>Personas</a:t>
            </a:r>
            <a:r>
              <a:rPr/>
              <a:t> :</a:t>
            </a:r>
          </a:p>
          <a:p>
            <a:pPr lvl="1"/>
            <a:r>
              <a:rPr b="1"/>
              <a:t>Léa</a:t>
            </a:r>
            <a:r>
              <a:rPr/>
              <a:t> (étudiante) — suivre des cours, sur mobile comme sur ordinateur.</a:t>
            </a:r>
          </a:p>
          <a:p>
            <a:pPr lvl="1"/>
            <a:r>
              <a:rPr b="1"/>
              <a:t>Marc</a:t>
            </a:r>
            <a:r>
              <a:rPr/>
              <a:t> (formateur) — rédiger en Markdown, gérer publication et inscrits.</a:t>
            </a:r>
          </a:p>
          <a:p>
            <a:pPr lvl="1"/>
            <a:r>
              <a:rPr b="1"/>
              <a:t>Awa</a:t>
            </a:r>
            <a:r>
              <a:rPr/>
              <a:t> (admin) — gérer les comptes et modérer en toute sécurité.</a:t>
            </a:r>
          </a:p>
          <a:p>
            <a:pPr lvl="0"/>
            <a:r>
              <a:rPr b="1"/>
              <a:t>Non fonctionnel</a:t>
            </a:r>
            <a:r>
              <a:rPr/>
              <a:t> : sécurité, accessibilité RGAA, responsive, tests, CI.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de données — modèle conceptuel (CP5)</a:t>
            </a:r>
          </a:p>
        </p:txBody>
      </p:sp>
      <p:pic>
        <p:nvPicPr>
          <p:cNvPr descr="images/learn-dev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30600" y="1193800"/>
            <a:ext cx="208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Base de données — schéma physique &amp; choix (CP5)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PostgreSQL 17</a:t>
            </a:r>
            <a:r>
              <a:rPr/>
              <a:t>, </a:t>
            </a:r>
            <a:r>
              <a:rPr b="1"/>
              <a:t>9 tables</a:t>
            </a:r>
            <a:r>
              <a:rPr/>
              <a:t>, migrations </a:t>
            </a:r>
            <a:r>
              <a:rPr b="1"/>
              <a:t>Liquibase</a:t>
            </a:r>
            <a:r>
              <a:rPr/>
              <a:t> appliquées au démarrage.</a:t>
            </a:r>
          </a:p>
          <a:p>
            <a:pPr lvl="0"/>
            <a:r>
              <a:rPr b="1"/>
              <a:t>Clé UUID</a:t>
            </a:r>
            <a:r>
              <a:rPr/>
              <a:t> pour les utilisateurs (anti-IDOR) ; </a:t>
            </a:r>
            <a:r>
              <a:rPr b="1"/>
              <a:t>BIGINT</a:t>
            </a:r>
            <a:r>
              <a:rPr/>
              <a:t> ailleurs ; clés composites.</a:t>
            </a:r>
          </a:p>
          <a:p>
            <a:pPr lvl="0"/>
            <a:r>
              <a:rPr b="1"/>
              <a:t>Contraintes</a:t>
            </a:r>
            <a:r>
              <a:rPr/>
              <a:t> : </a:t>
            </a:r>
            <a:r>
              <a:rPr>
                <a:latin typeface="Courier"/>
              </a:rPr>
              <a:t>UNIQUE</a:t>
            </a:r>
            <a:r>
              <a:rPr/>
              <a:t>, </a:t>
            </a:r>
            <a:r>
              <a:rPr>
                <a:latin typeface="Courier"/>
              </a:rPr>
              <a:t>CHECK</a:t>
            </a:r>
            <a:r>
              <a:rPr/>
              <a:t>, </a:t>
            </a:r>
            <a:r>
              <a:rPr>
                <a:latin typeface="Courier"/>
              </a:rPr>
              <a:t>FK ON DELETE CASCADE</a:t>
            </a:r>
            <a:r>
              <a:rPr/>
              <a:t> ; Hibernate en </a:t>
            </a:r>
            <a:r>
              <a:rPr>
                <a:latin typeface="Courier"/>
              </a:rPr>
              <a:t>validate</a:t>
            </a:r>
            <a:r>
              <a:rPr/>
              <a:t>.</a:t>
            </a:r>
          </a:p>
        </p:txBody>
      </p:sp>
      <p:pic>
        <p:nvPicPr>
          <p:cNvPr descr="images/schem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774700"/>
            <a:ext cx="5105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Maquettage &amp; accessibilité (CP2)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Maquettes Figma</a:t>
            </a:r>
            <a:r>
              <a:rPr/>
              <a:t> + prototypes HTML ; charte, deux thèmes (Catppuccin / Soft Paper).</a:t>
            </a:r>
          </a:p>
          <a:p>
            <a:pPr lvl="0"/>
            <a:r>
              <a:rPr b="1"/>
              <a:t>Responsive</a:t>
            </a:r>
            <a:r>
              <a:rPr/>
              <a:t> : versions web (bureau) </a:t>
            </a:r>
            <a:r>
              <a:rPr b="1"/>
              <a:t>et web mobile</a:t>
            </a:r>
            <a:r>
              <a:rPr/>
              <a:t> (points de rupture en </a:t>
            </a:r>
            <a:r>
              <a:rPr>
                <a:latin typeface="Courier"/>
              </a:rPr>
              <a:t>rem</a:t>
            </a:r>
            <a:r>
              <a:rPr/>
              <a:t>).</a:t>
            </a:r>
          </a:p>
          <a:p>
            <a:pPr lvl="0"/>
            <a:r>
              <a:rPr b="1"/>
              <a:t>Accessibilité RGAA / WCAG AA</a:t>
            </a:r>
            <a:r>
              <a:rPr/>
              <a:t> : structure sémantique, </a:t>
            </a:r>
            <a:r>
              <a:rPr i="1"/>
              <a:t>skip link</a:t>
            </a:r>
            <a:r>
              <a:rPr/>
              <a:t>, contrastes calculés (min. 4,73:1), police </a:t>
            </a:r>
            <a:r>
              <a:rPr b="1"/>
              <a:t>Atkinson Hyperlegible</a:t>
            </a:r>
            <a:r>
              <a:rPr/>
              <a:t>.</a:t>
            </a:r>
          </a:p>
        </p:txBody>
      </p:sp>
      <p:pic>
        <p:nvPicPr>
          <p:cNvPr descr="images/mockup-mobi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37100" y="203200"/>
            <a:ext cx="27686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Environnement technique (CP1)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Java 21</a:t>
            </a:r>
            <a:r>
              <a:rPr/>
              <a:t> + </a:t>
            </a:r>
            <a:r>
              <a:rPr b="1"/>
              <a:t>Spring Boot 3.5</a:t>
            </a:r>
            <a:r>
              <a:rPr/>
              <a:t> (Web MVC, Security, Data JPA, Validation, Mail).</a:t>
            </a:r>
          </a:p>
          <a:p>
            <a:pPr lvl="0"/>
            <a:r>
              <a:rPr b="1"/>
              <a:t>Thymeleaf</a:t>
            </a:r>
            <a:r>
              <a:rPr/>
              <a:t> (vues), </a:t>
            </a:r>
            <a:r>
              <a:rPr b="1"/>
              <a:t>PostgreSQL 17</a:t>
            </a:r>
            <a:r>
              <a:rPr/>
              <a:t> + </a:t>
            </a:r>
            <a:r>
              <a:rPr b="1"/>
              <a:t>Liquibase</a:t>
            </a:r>
            <a:r>
              <a:rPr/>
              <a:t>, </a:t>
            </a:r>
            <a:r>
              <a:rPr b="1"/>
              <a:t>commonmark-java</a:t>
            </a:r>
            <a:r>
              <a:rPr/>
              <a:t> + </a:t>
            </a:r>
            <a:r>
              <a:rPr b="1"/>
              <a:t>jsoup</a:t>
            </a:r>
            <a:r>
              <a:rPr/>
              <a:t>.</a:t>
            </a:r>
          </a:p>
          <a:p>
            <a:pPr lvl="0"/>
            <a:r>
              <a:rPr b="1"/>
              <a:t>Podman / Docker Compose</a:t>
            </a:r>
            <a:r>
              <a:rPr/>
              <a:t> (Postgres, Mongo, Mailpit) ; </a:t>
            </a:r>
            <a:r>
              <a:rPr b="1"/>
              <a:t>Maven</a:t>
            </a:r>
            <a:r>
              <a:rPr/>
              <a:t> ; </a:t>
            </a:r>
            <a:r>
              <a:rPr b="1"/>
              <a:t>Git</a:t>
            </a:r>
            <a:r>
              <a:rPr/>
              <a:t> ; </a:t>
            </a:r>
            <a:r>
              <a:rPr b="1"/>
              <a:t>CI GitHub Actions</a:t>
            </a:r>
            <a:r>
              <a:rPr/>
              <a:t>.</a:t>
            </a:r>
          </a:p>
          <a:p>
            <a:pPr lvl="0"/>
            <a:r>
              <a:rPr/>
              <a:t>Architecture </a:t>
            </a:r>
            <a:r>
              <a:rPr b="1"/>
              <a:t>en couches</a:t>
            </a:r>
            <a:r>
              <a:rPr/>
              <a:t> : Contrôleur → Service → Repository → PostgreSQL.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Développement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Deux fonctionnalités CRUD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Feature 1 — Inscription d’un utilisateur</a:t>
            </a:r>
            <a:r>
              <a:rPr/>
              <a:t> (validation, sécurité, jeu d’essai).</a:t>
            </a:r>
          </a:p>
          <a:p>
            <a:pPr lvl="0"/>
            <a:r>
              <a:rPr b="1"/>
              <a:t>Feature 2 — Gestion des cours et leçons</a:t>
            </a:r>
            <a:r>
              <a:rPr/>
              <a:t> (cycle de vie, autorisations).</a:t>
            </a:r>
          </a:p>
          <a:p>
            <a:pPr lvl="0"/>
            <a:r>
              <a:rPr/>
              <a:t>Motif commun : </a:t>
            </a:r>
            <a:r>
              <a:rPr b="1"/>
              <a:t>Contrôleur → Service (règles métier) → Repository</a:t>
            </a:r>
            <a:r>
              <a:rPr/>
              <a:t>, erreurs HTTP explicites (</a:t>
            </a:r>
            <a:r>
              <a:rPr b="1"/>
              <a:t>403 / 404 / 409</a:t>
            </a:r>
            <a:r>
              <a:rPr/>
              <a:t>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Feature 1 — Inscription (CP4, CP7)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Formulaire </a:t>
            </a:r>
            <a:r>
              <a:rPr b="1"/>
              <a:t>validé</a:t>
            </a:r>
            <a:r>
              <a:rPr/>
              <a:t> (Bean Validation) avec </a:t>
            </a:r>
            <a:r>
              <a:rPr b="1"/>
              <a:t>retours d’erreur accessibles</a:t>
            </a:r>
            <a:r>
              <a:rPr/>
              <a:t>.</a:t>
            </a:r>
          </a:p>
          <a:p>
            <a:pPr lvl="0"/>
            <a:r>
              <a:rPr b="1"/>
              <a:t>Unicité</a:t>
            </a:r>
            <a:r>
              <a:rPr/>
              <a:t> du nom d’utilisateur et de l’e-mail ; </a:t>
            </a:r>
            <a:r>
              <a:rPr b="1"/>
              <a:t>hachage BCrypt</a:t>
            </a:r>
            <a:r>
              <a:rPr/>
              <a:t> du mot de passe.</a:t>
            </a:r>
          </a:p>
          <a:p>
            <a:pPr lvl="0"/>
            <a:r>
              <a:rPr/>
              <a:t>Motif </a:t>
            </a:r>
            <a:r>
              <a:rPr b="1"/>
              <a:t>Post-Redirect-Get</a:t>
            </a:r>
            <a:r>
              <a:rPr/>
              <a:t> ; e-mail de vérification.</a:t>
            </a:r>
          </a:p>
        </p:txBody>
      </p:sp>
      <p:pic>
        <p:nvPicPr>
          <p:cNvPr descr="images/mockup-regist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749300"/>
            <a:ext cx="5105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Jeu d’essai — Inscription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Scénario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Attendu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Obtenu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 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Compte créé, mot de passe </a:t>
                      </a:r>
                      <a:r>
                        <a:rPr b="1"/>
                        <a:t>haché</a:t>
                      </a:r>
                      <a:r>
                        <a:rPr/>
                        <a:t>, rôle </a:t>
                      </a:r>
                      <a:r>
                        <a:rPr>
                          <a:latin typeface="Courier"/>
                        </a:rPr>
                        <a:t>STUDENT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E-mail déjà utilisé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Erreur de champ, </a:t>
                      </a:r>
                      <a:r>
                        <a:rPr b="1"/>
                        <a:t>aucune</a:t>
                      </a:r>
                      <a:r>
                        <a:rPr/>
                        <a:t> création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Mot de passe trop court (&lt; 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Rejet par la validation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E-mail invalide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Rejet par la validation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Feature 2 — Cours &amp; leçons (CP7)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Cycle de vie</a:t>
            </a:r>
            <a:r>
              <a:rPr/>
              <a:t> : </a:t>
            </a:r>
            <a:r>
              <a:rPr>
                <a:latin typeface="Courier"/>
              </a:rPr>
              <a:t>DRAFT → PUBLISHED → ARCHIVED</a:t>
            </a:r>
            <a:r>
              <a:rPr/>
              <a:t> ; transitions invalides → </a:t>
            </a:r>
            <a:r>
              <a:rPr b="1"/>
              <a:t>409</a:t>
            </a:r>
            <a:r>
              <a:rPr/>
              <a:t>.</a:t>
            </a:r>
          </a:p>
          <a:p>
            <a:pPr lvl="0"/>
            <a:r>
              <a:rPr b="1"/>
              <a:t>Autorisations</a:t>
            </a:r>
            <a:r>
              <a:rPr/>
              <a:t> : le cours d’un autre formateur → </a:t>
            </a:r>
            <a:r>
              <a:rPr b="1"/>
              <a:t>403</a:t>
            </a:r>
            <a:r>
              <a:rPr/>
              <a:t> ; contenu invisible → </a:t>
            </a:r>
            <a:r>
              <a:rPr b="1"/>
              <a:t>404</a:t>
            </a:r>
            <a:r>
              <a:rPr/>
              <a:t>.</a:t>
            </a:r>
          </a:p>
          <a:p>
            <a:pPr lvl="0"/>
            <a:r>
              <a:rPr/>
              <a:t>Réordonnancement des leçons, gestion des inscrits, </a:t>
            </a:r>
            <a:r>
              <a:rPr b="1"/>
              <a:t>journal d’audit</a:t>
            </a:r>
            <a:r>
              <a:rPr/>
              <a:t>.</a:t>
            </a:r>
          </a:p>
        </p:txBody>
      </p:sp>
      <p:pic>
        <p:nvPicPr>
          <p:cNvPr descr="images/mockup-instructo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94100" y="203200"/>
            <a:ext cx="50546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Front-end : interfaces &amp; responsive (CP3, CP4)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21 gabarits Thymeleaf</a:t>
            </a:r>
            <a:r>
              <a:rPr/>
              <a:t>, HTML5 sémantique, CSS responsive, fragment de mise en page partagé.</a:t>
            </a:r>
          </a:p>
          <a:p>
            <a:pPr lvl="0"/>
            <a:r>
              <a:rPr/>
              <a:t>Rendu </a:t>
            </a:r>
            <a:r>
              <a:rPr b="1"/>
              <a:t>dynamique</a:t>
            </a:r>
            <a:r>
              <a:rPr/>
              <a:t> du Markdown des leçons (converti puis </a:t>
            </a:r>
            <a:r>
              <a:rPr b="1"/>
              <a:t>assaini</a:t>
            </a:r>
            <a:r>
              <a:rPr/>
              <a:t> contre les XSS).</a:t>
            </a:r>
          </a:p>
          <a:p>
            <a:pPr lvl="0"/>
            <a:r>
              <a:rPr/>
              <a:t>Navigation précédent/suivant, affichage conditionnel selon le rôle.</a:t>
            </a:r>
          </a:p>
        </p:txBody>
      </p:sp>
      <p:pic>
        <p:nvPicPr>
          <p:cNvPr descr="images/mockup-catalo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346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Accès aux données (CP6)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Spring Data JPA</a:t>
            </a:r>
            <a:r>
              <a:rPr/>
              <a:t> : </a:t>
            </a:r>
            <a:r>
              <a:rPr i="1"/>
              <a:t>repositories</a:t>
            </a:r>
            <a:r>
              <a:rPr/>
              <a:t> = interfaces, requêtes </a:t>
            </a:r>
            <a:r>
              <a:rPr b="1"/>
              <a:t>dérivées</a:t>
            </a:r>
            <a:r>
              <a:rPr/>
              <a:t> et </a:t>
            </a:r>
            <a:r>
              <a:rPr b="1"/>
              <a:t>paramétrées</a:t>
            </a:r>
            <a:r>
              <a:rPr/>
              <a:t> (anti-injection SQL).</a:t>
            </a:r>
          </a:p>
          <a:p>
            <a:pPr lvl="0"/>
            <a:r>
              <a:rPr b="1">
                <a:latin typeface="Courier"/>
              </a:rPr>
              <a:t>@EntityGraph</a:t>
            </a:r>
            <a:r>
              <a:rPr/>
              <a:t> pour charger un utilisateur et ses rôles en une requête ; </a:t>
            </a:r>
            <a:r>
              <a:rPr>
                <a:latin typeface="Courier"/>
              </a:rPr>
              <a:t>@Transactional</a:t>
            </a:r>
            <a:r>
              <a:rPr/>
              <a:t>.</a:t>
            </a:r>
          </a:p>
          <a:p>
            <a:pPr lvl="0"/>
            <a:r>
              <a:rPr b="1"/>
              <a:t>NoSQL</a:t>
            </a:r>
            <a:r>
              <a:rPr/>
              <a:t> : MongoDB </a:t>
            </a:r>
            <a:r>
              <a:rPr b="1"/>
              <a:t>provisionné</a:t>
            </a:r>
            <a:r>
              <a:rPr/>
              <a:t> en vue d’un stockage de contenu (non encore branché).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Sécurité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BCrypt</a:t>
            </a:r>
            <a:r>
              <a:rPr/>
              <a:t> (mots de passe), </a:t>
            </a:r>
            <a:r>
              <a:rPr b="1"/>
              <a:t>CSRF</a:t>
            </a:r>
            <a:r>
              <a:rPr/>
              <a:t> activé, </a:t>
            </a:r>
            <a:r>
              <a:rPr b="1"/>
              <a:t>anti-XSS</a:t>
            </a:r>
            <a:r>
              <a:rPr/>
              <a:t> (assainissement jsoup).</a:t>
            </a:r>
          </a:p>
          <a:p>
            <a:pPr lvl="0"/>
            <a:r>
              <a:rPr b="1"/>
              <a:t>Anti-IDOR</a:t>
            </a:r>
            <a:r>
              <a:rPr/>
              <a:t> (UUID), </a:t>
            </a:r>
            <a:r>
              <a:rPr b="1"/>
              <a:t>anti-énumération</a:t>
            </a:r>
            <a:r>
              <a:rPr/>
              <a:t>, </a:t>
            </a:r>
            <a:r>
              <a:rPr b="1"/>
              <a:t>verrouillage de compte</a:t>
            </a:r>
            <a:r>
              <a:rPr/>
              <a:t>, </a:t>
            </a:r>
            <a:r>
              <a:rPr b="1"/>
              <a:t>rate-limiting</a:t>
            </a:r>
            <a:r>
              <a:rPr/>
              <a:t>.</a:t>
            </a:r>
          </a:p>
          <a:p>
            <a:pPr lvl="0"/>
            <a:r>
              <a:rPr/>
              <a:t>Jetons </a:t>
            </a:r>
            <a:r>
              <a:rPr b="1"/>
              <a:t>hachés SHA-256</a:t>
            </a:r>
            <a:r>
              <a:rPr/>
              <a:t>, </a:t>
            </a:r>
            <a:r>
              <a:rPr b="1"/>
              <a:t>journal d’audit</a:t>
            </a:r>
            <a:r>
              <a:rPr/>
              <a:t>, matrice d’autorisations testée.</a:t>
            </a:r>
          </a:p>
          <a:p>
            <a:pPr lvl="0"/>
            <a:r>
              <a:rPr/>
              <a:t>Référence </a:t>
            </a:r>
            <a:r>
              <a:rPr b="1"/>
              <a:t>OWASP Top 10</a:t>
            </a:r>
            <a:r>
              <a:rPr/>
              <a:t> ; veille </a:t>
            </a:r>
            <a:r>
              <a:rPr b="1"/>
              <a:t>Semgrep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64 tests</a:t>
            </a:r>
            <a:r>
              <a:rPr/>
              <a:t> (pyramide) : unitaires (Mockito), tranche JPA, intégration (MockMvc).</a:t>
            </a:r>
          </a:p>
          <a:p>
            <a:pPr lvl="0"/>
            <a:r>
              <a:rPr b="1"/>
              <a:t>PostgreSQL réel</a:t>
            </a:r>
            <a:r>
              <a:rPr/>
              <a:t> en test via </a:t>
            </a:r>
            <a:r>
              <a:rPr b="1"/>
              <a:t>Testcontainers</a:t>
            </a:r>
            <a:r>
              <a:rPr/>
              <a:t> (schéma fidèle : UUID, contraintes).</a:t>
            </a:r>
          </a:p>
          <a:p>
            <a:pPr lvl="0"/>
            <a:r>
              <a:rPr b="1"/>
              <a:t>Couverture</a:t>
            </a:r>
            <a:r>
              <a:rPr/>
              <a:t> mesurée par </a:t>
            </a:r>
            <a:r>
              <a:rPr b="1"/>
              <a:t>JaCoCo</a:t>
            </a:r>
            <a:r>
              <a:rPr/>
              <a:t>, publiée sur </a:t>
            </a:r>
            <a:r>
              <a:rPr b="1"/>
              <a:t>Codecov</a:t>
            </a:r>
            <a:r>
              <a:rPr/>
              <a:t> ; CI à 4 workflows.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Déploiement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Conteneurisation &amp; CI/CD (CP8)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Image Docker multi-étapes</a:t>
            </a:r>
            <a:r>
              <a:rPr/>
              <a:t> : build Maven puis exécution </a:t>
            </a:r>
            <a:r>
              <a:rPr b="1"/>
              <a:t>non-root</a:t>
            </a:r>
            <a:r>
              <a:rPr/>
              <a:t>.</a:t>
            </a:r>
          </a:p>
          <a:p>
            <a:pPr lvl="0"/>
            <a:r>
              <a:rPr b="1"/>
              <a:t>Docker Compose</a:t>
            </a:r>
            <a:r>
              <a:rPr/>
              <a:t> (Postgres / Mongo / Mailpit) ; profils </a:t>
            </a:r>
            <a:r>
              <a:rPr b="1"/>
              <a:t>dev / prod</a:t>
            </a:r>
            <a:r>
              <a:rPr/>
              <a:t> ; secrets via </a:t>
            </a:r>
            <a:r>
              <a:rPr>
                <a:latin typeface="Courier"/>
              </a:rPr>
              <a:t>.env</a:t>
            </a:r>
            <a:r>
              <a:rPr/>
              <a:t>.</a:t>
            </a:r>
          </a:p>
          <a:p>
            <a:pPr lvl="0"/>
            <a:r>
              <a:rPr b="1"/>
              <a:t>Procédure documentée</a:t>
            </a:r>
            <a:r>
              <a:rPr/>
              <a:t> : </a:t>
            </a:r>
            <a:r>
              <a:rPr>
                <a:latin typeface="Courier"/>
              </a:rPr>
              <a:t>docker compose up -d</a:t>
            </a:r>
            <a:r>
              <a:rPr/>
              <a:t> puis </a:t>
            </a:r>
            <a:r>
              <a:rPr>
                <a:latin typeface="Courier"/>
              </a:rPr>
              <a:t>./mvnw spring-boot:run</a:t>
            </a:r>
            <a:r>
              <a:rPr/>
              <a:t>.</a:t>
            </a:r>
          </a:p>
          <a:p>
            <a:pPr lvl="0"/>
            <a:r>
              <a:rPr b="1"/>
              <a:t>CI GitHub Actions</a:t>
            </a:r>
            <a:r>
              <a:rPr/>
              <a:t> : build, tests, lint, contrôle anti-dérive de schéma.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Bilan des compétences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Compétence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Où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Environnement de travail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Stack, Docker, CI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Maquetter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Figma, RGAA, responsive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Interfaces statiques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Thymeleaf, CSS, thèmes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Interfaces 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Formulaires, PRG, Markdown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de données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Merise, PostgreSQL, Liquibase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Accès aux données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Spring Data JPA (+ Mongo)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Composants métier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Services, règles, erreurs HTTP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Déploiement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Docker, Compose, CI/CD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Difficultés &amp; évolutions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Difficultés</a:t>
            </a:r>
            <a:r>
              <a:rPr/>
              <a:t> : concurrence à l’inscription (contrainte d’unicité captée) ; sécurité du rendu Markdown (XSS → assainissement) ; un seul </a:t>
            </a:r>
            <a:r>
              <a:rPr>
                <a:latin typeface="Courier"/>
              </a:rPr>
              <a:t>h1</a:t>
            </a:r>
            <a:r>
              <a:rPr/>
              <a:t> par page (accessibilité).</a:t>
            </a:r>
          </a:p>
          <a:p>
            <a:pPr lvl="0"/>
            <a:r>
              <a:rPr b="1"/>
              <a:t>Évolutions</a:t>
            </a:r>
            <a:r>
              <a:rPr/>
              <a:t> : brancher </a:t>
            </a:r>
            <a:r>
              <a:rPr b="1"/>
              <a:t>MongoDB</a:t>
            </a:r>
            <a:r>
              <a:rPr/>
              <a:t> (NoSQL) ; suivi de progression leçon par leçon ; API REST.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Merci de votre attention.</a:t>
            </a:r>
          </a:p>
          <a:p>
            <a:pPr lvl="0"/>
            <a:r>
              <a:rPr/>
              <a:t>Projet : </a:t>
            </a:r>
            <a:r>
              <a:rPr b="1"/>
              <a:t>github.com/ebouchut/learn-dev</a:t>
            </a:r>
          </a:p>
          <a:p>
            <a:pPr lvl="0"/>
            <a:r>
              <a:rPr/>
              <a:t>Des questions 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Catppuccin Latte">
      <a:dk1>
        <a:srgbClr val="4C4F69"/>
      </a:dk1>
      <a:lt1>
        <a:srgbClr val="EFF1F5"/>
      </a:lt1>
      <a:dk2>
        <a:srgbClr val="5C5F77"/>
      </a:dk2>
      <a:lt2>
        <a:srgbClr val="E6E9EF"/>
      </a:lt2>
      <a:accent1>
        <a:srgbClr val="8839EF"/>
      </a:accent1>
      <a:accent2>
        <a:srgbClr val="1E66F5"/>
      </a:accent2>
      <a:accent3>
        <a:srgbClr val="179299"/>
      </a:accent3>
      <a:accent4>
        <a:srgbClr val="40A02B"/>
      </a:accent4>
      <a:accent5>
        <a:srgbClr val="FE640B"/>
      </a:accent5>
      <a:accent6>
        <a:srgbClr val="D20F39"/>
      </a:accent6>
      <a:hlink>
        <a:srgbClr val="1A5CD7"/>
      </a:hlink>
      <a:folHlink>
        <a:srgbClr val="8839E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learn-dev</dc:title>
  <dc:creator>Eric Bouchut — Titre professionnel Développeur Web et Web Mobile (DWWM)</dc:creator>
  <cp:keywords/>
  <dcterms:created xsi:type="dcterms:W3CDTF">2026-07-15T12:13:19Z</dcterms:created>
  <dcterms:modified xsi:type="dcterms:W3CDTF">2026-07-15T12:13:19Z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Soutenance — RNCP37674 — session août 2026</vt:lpwstr>
  </property>
  <property fmtid="{D5CDD505-2E9C-101B-9397-08002B2CF9AE}" pid="3" name="subtitle">
    <vt:lpwstr>Plateforme web d’apprentissage de la programmation</vt:lpwstr>
  </property>
</Properties>
</file>